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115214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2F5E"/>
                </a:solidFill>
              </a:rPr>
              <a:t>Generative AI Uses and Risks for
Knowledge Workers in a Science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C3E50"/>
                </a:solidFill>
              </a:rPr>
              <a:t>Kelly B. Wagman  ·  Matthew T. Dearing  ·  Marshini Chetty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F8C8D"/>
                </a:solidFill>
              </a:rPr>
              <a:t>University of Chicago  &amp;  Argonne National Laboratory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CHI '25  ·  Yokohama, Japan  ·  April 26–May 1,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76BC6"/>
                </a:solidFill>
              </a:rPr>
              <a:t>DOI: 10.1145/3706598.3713827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CF0F1"/>
                </a:solidFill>
              </a:rPr>
              <a:t>Presented by: [Your Name]  ·  [Date]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Why This Paper?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F0F1"/>
                </a:solidFill>
              </a:rPr>
              <a:t>Novelty &amp;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F5E"/>
                </a:solidFill>
              </a:rPr>
              <a:t>What is novel: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58191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800">
                <a:solidFill>
                  <a:srgbClr val="2C3E50"/>
                </a:solidFill>
              </a:rPr>
              <a:t>•  First study at the intersection of GenAI in science AND professional knowledge work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2C3E50"/>
                </a:solidFill>
              </a:rPr>
              <a:t>•  Combines real usage data (telemetry) with survey and interviews — rare in HCI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2C3E50"/>
                </a:solidFill>
              </a:rPr>
              <a:t>•  Includes both Science and Operations workers in a single organization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2C3E50"/>
                </a:solidFill>
              </a:rPr>
              <a:t>•  Studies GenAI risks specific to a science context: classified data,</a:t>
            </a:r>
          </a:p>
          <a:p>
            <a:pPr>
              <a:spcBef>
                <a:spcPts val="300"/>
              </a:spcBef>
            </a:pPr>
            <a:r>
              <a:rPr sz="1800">
                <a:solidFill>
                  <a:srgbClr val="2C3E50"/>
                </a:solidFill>
              </a:rPr>
              <a:t>    academic publishing integrity, pre-publication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F5E"/>
                </a:solidFill>
              </a:rPr>
              <a:t>The gap it fills: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023360"/>
            <a:ext cx="5486400" cy="7772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1A2F5E"/>
                </a:solidFill>
              </a:rPr>
              <a:t>Prior work studied GenAI for science tasks OR for professional workers — never both together, and never with organizational adoption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F5E"/>
                </a:solidFill>
              </a:rPr>
              <a:t>Research Questions: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81912"/>
            <a:ext cx="5394960" cy="1143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45920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How are Science and Operations workers using — and envisioning — generative AI to support their work?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5394960" cy="100584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89864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898648"/>
            <a:ext cx="4617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What risks (privacy, security, ethics) exist for using generative AI at a national lab?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F5E"/>
                </a:solidFill>
              </a:rPr>
              <a:t>Five contributions: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6168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1.  Novel Argo usage data (org-wide GenAI deployment)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2.  Copilot vs. workflow agent use-case taxonomy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3.  Risk perspectives from Science &amp; Operations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4.  Design recommendations for organizations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5.  Future HCI research directions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F0F1"/>
                </a:solidFill>
              </a:rPr>
              <a:t>Argonne National Lab  ·  Jan–Aug 2024  ·  Survey + Interviews + Usage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Three data sources: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81912"/>
          <a:ext cx="676656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Argo telemetry (metadata only — no query content)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All users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Jan–Aug 2024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Survey (Qualtrics, 15 task items + open-ended)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N = 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Apr–Jun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Semi-structured interviews (30 min, Zoom)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N = 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C3E50"/>
                          </a:solidFill>
                        </a:rPr>
                        <a:t>Apr–Jul 2024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291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Two interaction modes — the paper's central framework: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657600"/>
            <a:ext cx="3246120" cy="1600200"/>
          </a:xfrm>
          <a:prstGeom prst="rect">
            <a:avLst/>
          </a:prstGeom>
          <a:solidFill>
            <a:srgbClr val="D6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721608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3063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Conversational, back-and-forth with the user. AI responds in real time.
Example: asking ChatGPT to rewrite an email or explain a piece of code.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3657600"/>
            <a:ext cx="3337560" cy="160020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721608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8B4C"/>
                </a:solidFill>
              </a:rPr>
              <a:t>Workflow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69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Autonomous or semi-autonomous. AI performs a complex task on its own.
Example: an agent that downloads instrument data, runs analysis, and produces a graph.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234440"/>
            <a:ext cx="4389120" cy="40690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3075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F5E"/>
                </a:solidFill>
              </a:rPr>
              <a:t>About Argo (the lab's private GenAI tool):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09928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Private GPT-3.5 Turbo instance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VPN-only; no data shared with OpenAI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No chat history stored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Browser interface — like internal ChatGPT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Upgraded to GPT-4 Turbo after study ended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Participants (survey &amp; interviews):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~48% Science  ·  ~47% Operations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Early adopters — already familiar with GenAI</a:t>
            </a:r>
          </a:p>
          <a:p>
            <a:pPr>
              <a:spcBef>
                <a:spcPts val="300"/>
              </a:spcBef>
            </a:pPr>
            <a:r>
              <a:rPr sz="1600">
                <a:solidFill>
                  <a:srgbClr val="2C3E50"/>
                </a:solidFill>
              </a:rPr>
              <a:t>•  67% male, 70% white (reflects lab population)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Results (1): Adoption &amp; Copilot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F0F1"/>
                </a:solidFill>
              </a:rPr>
              <a:t>Figure 1 + Table 5 (copilot section) — Wagman et al. (2025)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F5E"/>
                </a:solidFill>
              </a:rPr>
              <a:t>Argo adoption — growing but limited (Figure 1):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581912"/>
          <a:ext cx="5303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Science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Jan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107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Mar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111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Apr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May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Jul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169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136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256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191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4709160"/>
            <a:ext cx="5303520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D6008"/>
                </a:solidFill>
              </a:rPr>
              <a:t>⚠  Monthly users never exceeded 10% of all lab employees → use is still experimental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344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F5E"/>
                </a:solidFill>
              </a:rPr>
              <a:t>Copilot use cases (Table 5 — top half):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0" y="1581912"/>
          <a:ext cx="5852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Science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Operations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Writing structured
text / code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Paper intros, grants, reports, emails, code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Reports, emails, code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Extracting insights
from unstructured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Scientific literature; lab regulations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C3E50"/>
                          </a:solidFill>
                        </a:rPr>
                        <a:t>Team surveys; meeting transcripts; org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943600" y="35661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F5E"/>
                </a:solidFill>
              </a:rPr>
              <a:t>Key finding: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88620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C3E50"/>
                </a:solidFill>
              </a:rPr>
              <a:t>Science and Operations needs are largely similar for copilot-style tasks — a single shared tool is defensible.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480560"/>
            <a:ext cx="5852160" cy="8229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45262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"Who wants to write these things? But if you take an incident debriefing and ask the system to write a report... it did a really nice job."  — P2,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Results (2): Workflow Agent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F0F1"/>
                </a:solidFill>
              </a:rPr>
              <a:t>Table 5 (workflow agent section) — Wagman et al. (2025)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Use Case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Science Examples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Operations Examples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Current: Initial steps
toward automation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Operating scientific instruments;
automating data analysis pipelines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Automating instrument safety checks;
LLM-driven database queries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Envisioned: Fully
automated workflows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"AI scientist": generate hypotheses →
run simulations → revise → 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Auto-generate Gantt charts from meeting
slides; email organization; task prioritization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6576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F5E"/>
                </a:solidFill>
              </a:rPr>
              <a:t>Key finding: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977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</a:rPr>
              <a:t>Unlike copilot tasks, Science and Operations diverge here — workflows are highly domain-specific and cannot be served by a single shared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617720"/>
            <a:ext cx="5486400" cy="1463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"I would never have been able to write the code without significant time investment, and the fact that I could produce a working app in a couple of days was impressive to me."
— P1, Operations (no formal SE training)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617720"/>
            <a:ext cx="5669280" cy="1463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"Think about Photoshop — with these large language models, where you can interact with the chatbot and say: sharpen the image... researchers could ask the same of a scientific image."
— P21, Scientist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Risks and Concerns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34440"/>
          <a:ext cx="11430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Concern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Survey %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700">
                          <a:solidFill>
                            <a:srgbClr val="FFFFFF"/>
                          </a:solidFill>
                        </a:rPr>
                        <a:t>What It Means in Practice</a:t>
                      </a:r>
                    </a:p>
                  </a:txBody>
                  <a:tcPr>
                    <a:solidFill>
                      <a:srgbClr val="1A2F5E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Reliability / hallucinations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44%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LLMs give confident wrong answers; scientists need citable, verifiable sources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Privacy &amp;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Classified data, PII, and pre-publication research cannot go into commercial LLMs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Overreliance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21%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Users — especially non-experts — may accept outputs without checking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Academic publishing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Unclear where to draw the line on AI-assisted writing; who is accountable for errors?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Job impacts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5% survey
(higher in interviews)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C3E50"/>
                          </a:solidFill>
                        </a:rPr>
                        <a:t>Concern concentrated on less-technical roles: Communications, IT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4434840"/>
            <a:ext cx="11430000" cy="548640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480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8B4C"/>
                </a:solidFill>
              </a:rPr>
              <a:t>✓  Also important: 33% reported NO ethics concerns at work — showing only the concerns would misrepresent the distribution of opinion.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F8C8D"/>
                </a:solidFill>
              </a:rPr>
              <a:t>Presenter's note: The privacy/security concern is likely amplified by Argonne's classified-data environment — it may not transfer equally to other science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ECF0F1"/>
                </a:solidFill>
              </a:rPr>
              <a:t>Presenter's critical perspective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15087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2F5E"/>
                </a:solidFill>
              </a:rPr>
              <a:t>Only one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</a:rPr>
              <a:t>Argonne is atypical: classified data, federal employment law, national-security mission. Concerns about privacy and security are likely higher here than at a university lab or private biotech. The findings may not generalize beyond similarly security-sensitive orgs.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880360"/>
            <a:ext cx="11430000" cy="15087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718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8E44AD"/>
                </a:solidFill>
              </a:rPr>
              <a:t>No new users studied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</a:rPr>
              <a:t>70%+ of employees never used Argo in a given month — yet they are invisible in this dataset. Interviews and surveys only captured enthusiastic early adopters. The barriers for non-adopters (awareness? skepticism? workflow friction?) are entirely unknown.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526280"/>
            <a:ext cx="11430000" cy="15087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D35400"/>
                </a:solidFill>
              </a:rPr>
              <a:t>All participants had prior LLM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9834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C3E50"/>
                </a:solidFill>
              </a:rPr>
              <a:t>94% were already familiar with GenAI; 82% had used ChatGPT. This is not a sample of the average knowledge worker — it is a self-selected group already sold on the technology. Stated concerns may therefore be underestimates of what a broader rollout would surface.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Let's Talk About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1A2F5E"/>
                </a:solidFill>
              </a:rPr>
              <a:t>If your department deployed its own private GenAI tool tomorrow —
same interface as ChatGPT, but your data never leaves the organization —
what's the first task you'd hand off to it,
and what's one thing you'd never let it touch?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86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CF0F1"/>
                </a:solidFill>
              </a:rPr>
              <a:t>No right answer — be honest about where your own line is and why.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434840"/>
            <a:ext cx="11430000" cy="1371600"/>
          </a:xfrm>
          <a:prstGeom prst="rect">
            <a:avLst/>
          </a:prstGeom>
          <a:solidFill>
            <a:srgbClr val="122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9884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Follow-up if the conversation runs: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CF0F1"/>
                </a:solidFill>
              </a:rPr>
              <a:t>The scientists in this study were writing paper introductions with ChatGPT but hesitant to let it touch their actual data. Does that match how you think about it — or do you draw the line somewhere different?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F8C8D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