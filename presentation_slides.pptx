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1097280"/>
            <a:ext cx="11612880" cy="411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2F5E"/>
                </a:solidFill>
              </a:rPr>
              <a:t>Generative AI Uses and Risks for
Knowledge Workers in a Science Organization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2C3E50"/>
                </a:solidFill>
              </a:rPr>
              <a:t>Kelly B. Wagman  ·  Matthew T. Dearing  ·  Marshini Chetty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461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7F8C8D"/>
                </a:solidFill>
              </a:rPr>
              <a:t>University of Chicago  &amp;  Argonne National Laboratory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033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</a:rPr>
              <a:t>CHI '25  ·  Yokohama, Japan  ·  April 26–May 1, 2025
DOI: 10.1145/3706598.3713827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ECF0F1"/>
                </a:solidFill>
              </a:rPr>
              <a:t>Presented by: [Your Name]  ·  [Date]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7F8C8D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A2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Why This Paper?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2801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2F5E"/>
                </a:solidFill>
              </a:rPr>
              <a:t>The gap: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1600200"/>
            <a:ext cx="11521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2C3E50"/>
                </a:solidFill>
              </a:rPr>
              <a:t>Prior work studied GenAI in science OR in professional knowledge work — never both, and never with real adoption data from a single organization.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228600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2F5E"/>
                </a:solidFill>
              </a:rPr>
              <a:t>What makes science organizations unique: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606040"/>
            <a:ext cx="11521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900">
                <a:solidFill>
                  <a:srgbClr val="2C3E50"/>
                </a:solidFill>
              </a:rPr>
              <a:t>•  Knowledge specialists (scientists) and operations workers (IT, HR, safety) share the same org</a:t>
            </a:r>
          </a:p>
          <a:p>
            <a:pPr>
              <a:spcBef>
                <a:spcPts val="400"/>
              </a:spcBef>
            </a:pPr>
            <a:r>
              <a:rPr sz="1900">
                <a:solidFill>
                  <a:srgbClr val="2C3E50"/>
                </a:solidFill>
              </a:rPr>
              <a:t>•  Sensitive data: classified, pre-publication research, PII</a:t>
            </a:r>
          </a:p>
          <a:p>
            <a:pPr>
              <a:spcBef>
                <a:spcPts val="400"/>
              </a:spcBef>
            </a:pPr>
            <a:r>
              <a:rPr sz="1900">
                <a:solidFill>
                  <a:srgbClr val="2C3E50"/>
                </a:solidFill>
              </a:rPr>
              <a:t>•  Academic publishing norms create distinct ethical stakes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397764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2F5E"/>
                </a:solidFill>
              </a:rPr>
              <a:t>The question: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4297680"/>
            <a:ext cx="11521440" cy="82296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43891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1A2F5E"/>
                </a:solidFill>
              </a:rPr>
              <a:t>Can a science organization safely and effectively adopt generative AI across all its workers — not just researchers?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7F8C8D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A2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What They Set Out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2801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A2F5E"/>
                </a:solidFill>
              </a:rPr>
              <a:t>RQ1: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835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2C3E50"/>
                </a:solidFill>
              </a:rPr>
              <a:t>How are Science and Operations workers using — and envisioning — generative AI to support their work?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874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A2F5E"/>
                </a:solidFill>
              </a:rPr>
              <a:t>RQ2: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874520"/>
            <a:ext cx="10835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2C3E50"/>
                </a:solidFill>
              </a:rPr>
              <a:t>What risks (privacy, security, ethics) exist for GenAI at a national lab?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246888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2F5E"/>
                </a:solidFill>
              </a:rPr>
              <a:t>Five contributions: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78892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900">
                <a:solidFill>
                  <a:srgbClr val="2C3E50"/>
                </a:solidFill>
              </a:rPr>
              <a:t>1.  Novel Argo usage data from an org-wide GenAI deployment</a:t>
            </a:r>
          </a:p>
          <a:p>
            <a:pPr>
              <a:spcBef>
                <a:spcPts val="400"/>
              </a:spcBef>
            </a:pPr>
            <a:r>
              <a:rPr sz="1900">
                <a:solidFill>
                  <a:srgbClr val="2C3E50"/>
                </a:solidFill>
              </a:rPr>
              <a:t>2.  Use case taxonomy: copilot vs. workflow agent</a:t>
            </a:r>
          </a:p>
          <a:p>
            <a:pPr>
              <a:spcBef>
                <a:spcPts val="400"/>
              </a:spcBef>
            </a:pPr>
            <a:r>
              <a:rPr sz="1900">
                <a:solidFill>
                  <a:srgbClr val="2C3E50"/>
                </a:solidFill>
              </a:rPr>
              <a:t>3.  Risk perspectives from both Science and Operations roles</a:t>
            </a:r>
          </a:p>
          <a:p>
            <a:pPr>
              <a:spcBef>
                <a:spcPts val="400"/>
              </a:spcBef>
            </a:pPr>
            <a:r>
              <a:rPr sz="1900">
                <a:solidFill>
                  <a:srgbClr val="2C3E50"/>
                </a:solidFill>
              </a:rPr>
              <a:t>4.  Design recommendations for organizational copilots and agents</a:t>
            </a:r>
          </a:p>
          <a:p>
            <a:pPr>
              <a:spcBef>
                <a:spcPts val="400"/>
              </a:spcBef>
            </a:pPr>
            <a:r>
              <a:rPr sz="1900">
                <a:solidFill>
                  <a:srgbClr val="2C3E50"/>
                </a:solidFill>
              </a:rPr>
              <a:t>5.  Future HCI research directions for science organizations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7F8C8D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A2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How They Studied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CF0F1"/>
                </a:solidFill>
              </a:rPr>
              <a:t>Argonne National Laboratory  ·  Jan–Aug 2024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280160"/>
          <a:ext cx="115214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3840480"/>
                <a:gridCol w="3840480"/>
              </a:tblGrid>
              <a:tr h="480060">
                <a:tc>
                  <a:txBody>
                    <a:bodyPr/>
                    <a:lstStyle/>
                    <a:p>
                      <a:pPr algn="ctr"/>
                      <a:r>
                        <a:rPr b="1" sz="1800">
                          <a:solidFill>
                            <a:srgbClr val="FFFFFF"/>
                          </a:solidFill>
                        </a:rPr>
                        <a:t>Source</a:t>
                      </a:r>
                    </a:p>
                  </a:txBody>
                  <a:tcPr>
                    <a:solidFill>
                      <a:srgbClr val="1A2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800">
                          <a:solidFill>
                            <a:srgbClr val="FFFFFF"/>
                          </a:solidFill>
                        </a:rPr>
                        <a:t>What</a:t>
                      </a:r>
                    </a:p>
                  </a:txBody>
                  <a:tcPr>
                    <a:solidFill>
                      <a:srgbClr val="1A2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800">
                          <a:solidFill>
                            <a:srgbClr val="FFFFFF"/>
                          </a:solidFill>
                        </a:rPr>
                        <a:t>When</a:t>
                      </a:r>
                    </a:p>
                  </a:txBody>
                  <a:tcPr>
                    <a:solidFill>
                      <a:srgbClr val="1A2F5E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C3E50"/>
                          </a:solidFill>
                        </a:rPr>
                        <a:t>Argo telemetry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C3E50"/>
                          </a:solidFill>
                        </a:rPr>
                        <a:t>Monthly unique users, token counts — no query content stored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C3E50"/>
                          </a:solidFill>
                        </a:rPr>
                        <a:t>Jan–Aug 2024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C3E50"/>
                          </a:solidFill>
                        </a:rPr>
                        <a:t>Survey (N=66)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C3E50"/>
                          </a:solidFill>
                        </a:rPr>
                        <a:t>Qualtrics; 15 task-frequency items + open-ended responses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C3E50"/>
                          </a:solidFill>
                        </a:rPr>
                        <a:t>Apr–Jun 2024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C3E50"/>
                          </a:solidFill>
                        </a:rPr>
                        <a:t>Interviews (N=22)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C3E50"/>
                          </a:solidFill>
                        </a:rPr>
                        <a:t>Semi-structured; 30 min; Zoom; thematic analysis (MAXQDA)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C3E50"/>
                          </a:solidFill>
                        </a:rPr>
                        <a:t>Apr–Jul 2024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338328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A2F5E"/>
                </a:solidFill>
              </a:rPr>
              <a:t>About Argo: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3703320"/>
            <a:ext cx="11521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900">
                <a:solidFill>
                  <a:srgbClr val="2C3E50"/>
                </a:solidFill>
              </a:rPr>
              <a:t>•  Private GPT-3.5 Turbo instance — VPN-only access</a:t>
            </a:r>
          </a:p>
          <a:p>
            <a:pPr>
              <a:spcBef>
                <a:spcPts val="400"/>
              </a:spcBef>
            </a:pPr>
            <a:r>
              <a:rPr sz="1900">
                <a:solidFill>
                  <a:srgbClr val="2C3E50"/>
                </a:solidFill>
              </a:rPr>
              <a:t>•  No query content shared with OpenAI</a:t>
            </a:r>
          </a:p>
          <a:p>
            <a:pPr>
              <a:spcBef>
                <a:spcPts val="400"/>
              </a:spcBef>
            </a:pPr>
            <a:r>
              <a:rPr sz="1900">
                <a:solidFill>
                  <a:srgbClr val="2C3E50"/>
                </a:solidFill>
              </a:rPr>
              <a:t>•  No chat history stored between sessions</a:t>
            </a:r>
          </a:p>
          <a:p>
            <a:pPr>
              <a:spcBef>
                <a:spcPts val="400"/>
              </a:spcBef>
            </a:pPr>
            <a:r>
              <a:rPr sz="1900">
                <a:solidFill>
                  <a:srgbClr val="2C3E50"/>
                </a:solidFill>
              </a:rPr>
              <a:t>•  Upgraded to GPT-4 Turbo after data collection completed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7F8C8D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A2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Who Was Studied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280160"/>
          <a:ext cx="115214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3840480"/>
                <a:gridCol w="3840480"/>
              </a:tblGrid>
              <a:tr h="396240">
                <a:tc>
                  <a:txBody>
                    <a:bodyPr/>
                    <a:lstStyle/>
                    <a:p>
                      <a:pPr algn="ctr"/>
                      <a:r>
                        <a:rPr b="1" sz="1700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1A2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>
                          <a:solidFill>
                            <a:srgbClr val="FFFFFF"/>
                          </a:solidFill>
                        </a:rPr>
                        <a:t>Survey (N=66)</a:t>
                      </a:r>
                    </a:p>
                  </a:txBody>
                  <a:tcPr>
                    <a:solidFill>
                      <a:srgbClr val="1A2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>
                          <a:solidFill>
                            <a:srgbClr val="FFFFFF"/>
                          </a:solidFill>
                        </a:rPr>
                        <a:t>Interviews (N=22)</a:t>
                      </a:r>
                    </a:p>
                  </a:txBody>
                  <a:tcPr>
                    <a:solidFill>
                      <a:srgbClr val="1A2F5E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C3E50"/>
                          </a:solidFill>
                        </a:rPr>
                        <a:t>Science / Operations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C3E50"/>
                          </a:solidFill>
                        </a:rPr>
                        <a:t>48% Science · 47% Ops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C3E50"/>
                          </a:solidFill>
                        </a:rPr>
                        <a:t>55% Science · 45% Ops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C3E50"/>
                          </a:solidFill>
                        </a:rPr>
                        <a:t>Top roles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C3E50"/>
                          </a:solidFill>
                        </a:rPr>
                        <a:t>Scientists, SW Engineers, IT, Ops Managers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C3E50"/>
                          </a:solidFill>
                        </a:rPr>
                        <a:t>Scientists, Cybersecurity, IT, Ops Managers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C3E50"/>
                          </a:solidFill>
                        </a:rPr>
                        <a:t>Gender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C3E50"/>
                          </a:solidFill>
                        </a:rPr>
                        <a:t>67% male · 18% female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C3E50"/>
                          </a:solidFill>
                        </a:rPr>
                        <a:t>Skewed male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C3E50"/>
                          </a:solidFill>
                        </a:rPr>
                        <a:t>Race / Ethnicity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C3E50"/>
                          </a:solidFill>
                        </a:rPr>
                        <a:t>70% white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C3E50"/>
                          </a:solidFill>
                        </a:rPr>
                        <a:t>Skewed white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C3E50"/>
                          </a:solidFill>
                        </a:rPr>
                        <a:t>Education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C3E50"/>
                          </a:solidFill>
                        </a:rPr>
                        <a:t>32% doctoral · 30% master's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C3E50"/>
                          </a:solidFill>
                        </a:rPr>
                        <a:t>Mostly doctoral (Science)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320040" y="3840480"/>
            <a:ext cx="11521440" cy="68580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388620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7D6008"/>
                </a:solidFill>
              </a:rPr>
              <a:t>⚠  Important: Participants self-selected — they are early adopters already familiar with GenAI. Findings may not reflect the majority of employees.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7F8C8D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A2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Key Figure 1: Argo Adoption — Growing but Still Small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CF0F1"/>
                </a:solidFill>
              </a:rPr>
              <a:t>Reproduced from Figure 1, Wagman et al. (2025)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280160"/>
          <a:ext cx="6400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  <a:gridCol w="2133600"/>
              </a:tblGrid>
              <a:tr h="355600">
                <a:tc>
                  <a:txBody>
                    <a:bodyPr/>
                    <a:lstStyle/>
                    <a:p>
                      <a:pPr algn="ctr"/>
                      <a:r>
                        <a:rPr b="1" sz="1800">
                          <a:solidFill>
                            <a:srgbClr val="FFFFFF"/>
                          </a:solidFill>
                        </a:rPr>
                        <a:t>Month (2024)</a:t>
                      </a:r>
                    </a:p>
                  </a:txBody>
                  <a:tcPr>
                    <a:solidFill>
                      <a:srgbClr val="1A2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800">
                          <a:solidFill>
                            <a:srgbClr val="FFFFFF"/>
                          </a:solidFill>
                        </a:rPr>
                        <a:t>Science Users</a:t>
                      </a:r>
                    </a:p>
                  </a:txBody>
                  <a:tcPr>
                    <a:solidFill>
                      <a:srgbClr val="1A2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800">
                          <a:solidFill>
                            <a:srgbClr val="FFFFFF"/>
                          </a:solidFill>
                        </a:rPr>
                        <a:t>Operations Users</a:t>
                      </a:r>
                    </a:p>
                  </a:txBody>
                  <a:tcPr>
                    <a:solidFill>
                      <a:srgbClr val="1A2F5E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C3E50"/>
                          </a:solidFill>
                        </a:rPr>
                        <a:t>January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C3E50"/>
                          </a:solidFill>
                        </a:rPr>
                        <a:t>135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C3E50"/>
                          </a:solidFill>
                        </a:rPr>
                        <a:t>107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C3E50"/>
                          </a:solidFill>
                        </a:rPr>
                        <a:t>February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C3E50"/>
                          </a:solidFill>
                        </a:rPr>
                        <a:t>101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C3E50"/>
                          </a:solidFill>
                        </a:rPr>
                        <a:t>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C3E50"/>
                          </a:solidFill>
                        </a:rPr>
                        <a:t>March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C3E50"/>
                          </a:solidFill>
                        </a:rPr>
                        <a:t>111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C3E50"/>
                          </a:solidFill>
                        </a:rPr>
                        <a:t>68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C3E50"/>
                          </a:solidFill>
                        </a:rPr>
                        <a:t>April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C3E50"/>
                          </a:solidFill>
                        </a:rPr>
                        <a:t>113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C3E50"/>
                          </a:solidFill>
                        </a:rPr>
                        <a:t>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C3E50"/>
                          </a:solidFill>
                        </a:rPr>
                        <a:t>May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C3E50"/>
                          </a:solidFill>
                        </a:rPr>
                        <a:t>130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C3E50"/>
                          </a:solidFill>
                        </a:rPr>
                        <a:t>123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C3E50"/>
                          </a:solidFill>
                        </a:rPr>
                        <a:t>June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C3E50"/>
                          </a:solidFill>
                        </a:rPr>
                        <a:t>190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C3E50"/>
                          </a:solidFill>
                        </a:rPr>
                        <a:t>117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C3E50"/>
                          </a:solidFill>
                        </a:rPr>
                        <a:t>July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C3E50"/>
                          </a:solidFill>
                        </a:rPr>
                        <a:t>169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C3E50"/>
                          </a:solidFill>
                        </a:rPr>
                        <a:t>136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C3E50"/>
                          </a:solidFill>
                        </a:rPr>
                        <a:t>August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C3E50"/>
                          </a:solidFill>
                        </a:rPr>
                        <a:t>256 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C3E50"/>
                          </a:solidFill>
                        </a:rPr>
                        <a:t>191 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995160" y="128016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A2F5E"/>
                </a:solidFill>
              </a:rPr>
              <a:t>Two things are both true: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1645920"/>
            <a:ext cx="4663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800">
                <a:solidFill>
                  <a:srgbClr val="2C3E50"/>
                </a:solidFill>
              </a:rPr>
              <a:t>✓  Clear upward trend: ~19.2% average monthly growth in unique users</a:t>
            </a:r>
          </a:p>
          <a:p>
            <a:pPr>
              <a:spcBef>
                <a:spcPts val="400"/>
              </a:spcBef>
            </a:pPr>
            <a:r>
              <a:rPr sz="1800">
                <a:solidFill>
                  <a:srgbClr val="2C3E50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800">
                <a:solidFill>
                  <a:srgbClr val="2C3E50"/>
                </a:solidFill>
              </a:rPr>
              <a:t>✗  Monthly users never exceeded 10% of all lab employees</a:t>
            </a:r>
          </a:p>
          <a:p>
            <a:pPr>
              <a:spcBef>
                <a:spcPts val="400"/>
              </a:spcBef>
            </a:pPr>
            <a:r>
              <a:rPr sz="1800">
                <a:solidFill>
                  <a:srgbClr val="2C3E50"/>
                </a:solidFill>
              </a:rPr>
              <a:t>    → Use is still largely experimental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7F8C8D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A2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Finding 1: Copilot Use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CF0F1"/>
                </a:solidFill>
              </a:rPr>
              <a:t>From Table 5 (Employee Copilot section) — Wagman et al. (2025)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280160"/>
          <a:ext cx="115214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3840480"/>
                <a:gridCol w="3840480"/>
              </a:tblGrid>
              <a:tr h="670560">
                <a:tc>
                  <a:txBody>
                    <a:bodyPr/>
                    <a:lstStyle/>
                    <a:p>
                      <a:pPr algn="ctr"/>
                      <a:r>
                        <a:rPr b="1" sz="1700">
                          <a:solidFill>
                            <a:srgbClr val="FFFFFF"/>
                          </a:solidFill>
                        </a:rPr>
                        <a:t>Use Case</a:t>
                      </a:r>
                    </a:p>
                  </a:txBody>
                  <a:tcPr>
                    <a:solidFill>
                      <a:srgbClr val="1A2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>
                          <a:solidFill>
                            <a:srgbClr val="FFFFFF"/>
                          </a:solidFill>
                        </a:rPr>
                        <a:t>Science Examples</a:t>
                      </a:r>
                    </a:p>
                  </a:txBody>
                  <a:tcPr>
                    <a:solidFill>
                      <a:srgbClr val="1A2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>
                          <a:solidFill>
                            <a:srgbClr val="FFFFFF"/>
                          </a:solidFill>
                        </a:rPr>
                        <a:t>Operations Examples</a:t>
                      </a:r>
                    </a:p>
                  </a:txBody>
                  <a:tcPr>
                    <a:solidFill>
                      <a:srgbClr val="1A2F5E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C3E50"/>
                          </a:solidFill>
                        </a:rPr>
                        <a:t>Writing structured
code / text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C3E50"/>
                          </a:solidFill>
                        </a:rPr>
                        <a:t>Academic paper intros, grants, reports, emails, code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C3E50"/>
                          </a:solidFill>
                        </a:rPr>
                        <a:t>Reports, emails, code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C3E50"/>
                          </a:solidFill>
                        </a:rPr>
                        <a:t>Extracting insights from
large unstructured 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C3E50"/>
                          </a:solidFill>
                        </a:rPr>
                        <a:t>Scientific literature; lab rules &amp; regulations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C3E50"/>
                          </a:solidFill>
                        </a:rPr>
                        <a:t>Public data sources; team surveys; meeting transcripts; lab regulations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3429000"/>
            <a:ext cx="1152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2F5E"/>
                </a:solidFill>
              </a:rPr>
              <a:t>Key finding: Science and Operations needs are largely similar for copilot-style tasks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3886200"/>
            <a:ext cx="11521440" cy="82296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9319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2C3E50"/>
                </a:solidFill>
              </a:rPr>
              <a:t>"Who wants to write these things? But if you take an incident debriefing and ask the system to write a report based on that... it did a really nice job."  — P2, Operations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4846320"/>
            <a:ext cx="1152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74C3C"/>
                </a:solidFill>
              </a:rPr>
              <a:t>Blocker for envisioned uses: hallucinations prevent trust in extracting insights from unverified sources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7F8C8D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A2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Finding 2: Workflow Agent Use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CF0F1"/>
                </a:solidFill>
              </a:rPr>
              <a:t>From Table 5 (Workflow Agent section) — Wagman et al. (2025)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280160"/>
          <a:ext cx="115214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3840480"/>
                <a:gridCol w="3840480"/>
              </a:tblGrid>
              <a:tr h="670560">
                <a:tc>
                  <a:txBody>
                    <a:bodyPr/>
                    <a:lstStyle/>
                    <a:p>
                      <a:pPr algn="ctr"/>
                      <a:r>
                        <a:rPr b="1" sz="1700">
                          <a:solidFill>
                            <a:srgbClr val="FFFFFF"/>
                          </a:solidFill>
                        </a:rPr>
                        <a:t>Use Case</a:t>
                      </a:r>
                    </a:p>
                  </a:txBody>
                  <a:tcPr>
                    <a:solidFill>
                      <a:srgbClr val="1A2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>
                          <a:solidFill>
                            <a:srgbClr val="FFFFFF"/>
                          </a:solidFill>
                        </a:rPr>
                        <a:t>Science Examples</a:t>
                      </a:r>
                    </a:p>
                  </a:txBody>
                  <a:tcPr>
                    <a:solidFill>
                      <a:srgbClr val="1A2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>
                          <a:solidFill>
                            <a:srgbClr val="FFFFFF"/>
                          </a:solidFill>
                        </a:rPr>
                        <a:t>Operations Examples</a:t>
                      </a:r>
                    </a:p>
                  </a:txBody>
                  <a:tcPr>
                    <a:solidFill>
                      <a:srgbClr val="1A2F5E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C3E50"/>
                          </a:solidFill>
                        </a:rPr>
                        <a:t>Initial steps toward
automation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C3E50"/>
                          </a:solidFill>
                        </a:rPr>
                        <a:t>Operating scientific instruments; automating data analysis pipelines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C3E50"/>
                          </a:solidFill>
                        </a:rPr>
                        <a:t>Automating instrument safety checks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C3E50"/>
                          </a:solidFill>
                        </a:rPr>
                        <a:t>Fully automated
workflows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C3E50"/>
                          </a:solidFill>
                        </a:rPr>
                        <a:t>"AI scientist": generate hypotheses → run simulations → revise → repeat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C3E50"/>
                          </a:solidFill>
                        </a:rPr>
                        <a:t>Complex project management: Gantt charts, task prioritization, long-term planning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3429000"/>
            <a:ext cx="1152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2F5E"/>
                </a:solidFill>
              </a:rPr>
              <a:t>Key finding: Science and Operations diverge here — workflows are domain-specific and highly customized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3886200"/>
            <a:ext cx="11521440" cy="82296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9319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2C3E50"/>
                </a:solidFill>
              </a:rPr>
              <a:t>"I would never have been able to write the code without significant time investment, and the fact that I could produce a working app in a couple of days was impressive to me."  — P1, Operations (no formal SE training)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7F8C8D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A2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Finding 3: Risks and Concerns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280160"/>
          <a:ext cx="115214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3840480"/>
                <a:gridCol w="38404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700">
                          <a:solidFill>
                            <a:srgbClr val="FFFFFF"/>
                          </a:solidFill>
                        </a:rPr>
                        <a:t>Concern</a:t>
                      </a:r>
                    </a:p>
                  </a:txBody>
                  <a:tcPr>
                    <a:solidFill>
                      <a:srgbClr val="1A2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>
                          <a:solidFill>
                            <a:srgbClr val="FFFFFF"/>
                          </a:solidFill>
                        </a:rPr>
                        <a:t>Survey %</a:t>
                      </a:r>
                    </a:p>
                  </a:txBody>
                  <a:tcPr>
                    <a:solidFill>
                      <a:srgbClr val="1A2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700">
                          <a:solidFill>
                            <a:srgbClr val="FFFFFF"/>
                          </a:solidFill>
                        </a:rPr>
                        <a:t>What It Means</a:t>
                      </a:r>
                    </a:p>
                  </a:txBody>
                  <a:tcPr>
                    <a:solidFill>
                      <a:srgbClr val="1A2F5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C3E50"/>
                          </a:solidFill>
                        </a:rPr>
                        <a:t>Reliability / hallucinations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C3E50"/>
                          </a:solidFill>
                        </a:rPr>
                        <a:t>44%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C3E50"/>
                          </a:solidFill>
                        </a:rPr>
                        <a:t>LLMs not trustworthy for technical/scientific facts; no citations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C3E50"/>
                          </a:solidFill>
                        </a:rPr>
                        <a:t>Privacy &amp; security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C3E50"/>
                          </a:solidFill>
                        </a:rPr>
                        <a:t>42%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C3E50"/>
                          </a:solidFill>
                        </a:rPr>
                        <a:t>Unpublished research, classified data, PII cannot go into commercial LLMs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C3E50"/>
                          </a:solidFill>
                        </a:rPr>
                        <a:t>Overreliance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C3E50"/>
                          </a:solidFill>
                        </a:rPr>
                        <a:t>21%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C3E50"/>
                          </a:solidFill>
                        </a:rPr>
                        <a:t>Others may trust outputs without checking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C3E50"/>
                          </a:solidFill>
                        </a:rPr>
                        <a:t>Academic publishing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C3E50"/>
                          </a:solidFill>
                        </a:rPr>
                        <a:t>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C3E50"/>
                          </a:solidFill>
                        </a:rPr>
                        <a:t>Unclear where to draw the line on AI-assisted writing; accountability gaps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C3E50"/>
                          </a:solidFill>
                        </a:rPr>
                        <a:t>Job impacts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C3E50"/>
                          </a:solidFill>
                        </a:rPr>
                        <a:t>5% (survey)*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C3E50"/>
                          </a:solidFill>
                        </a:rPr>
                        <a:t>Concern focused on less-technical roles (Communications, IT)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320040" y="4160520"/>
            <a:ext cx="11521440" cy="502920"/>
          </a:xfrm>
          <a:prstGeom prst="rect">
            <a:avLst/>
          </a:prstGeom>
          <a:solidFill>
            <a:srgbClr val="D5F5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E8B4C"/>
                </a:solidFill>
              </a:rPr>
              <a:t>✓  Also important: 33% had NO ethics concerns at work — presenting only the concerns would misrepresent the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4754880"/>
            <a:ext cx="1152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7F8C8D"/>
                </a:solidFill>
              </a:rPr>
              <a:t>* Higher prominence in interviews than survey suggests question wording matters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7F8C8D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A2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What I Find Compelling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CF0F1"/>
                </a:solidFill>
              </a:rPr>
              <a:t>Presenter's perspective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1097280"/>
            <a:ext cx="164592" cy="5577840"/>
          </a:xfrm>
          <a:prstGeom prst="rect">
            <a:avLst/>
          </a:prstGeom>
          <a:solidFill>
            <a:srgbClr val="1A2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2801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2F5E"/>
                </a:solidFill>
              </a:rPr>
              <a:t>1.  Triangulation is a genuine strength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600200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C3E50"/>
                </a:solidFill>
              </a:rPr>
              <a:t>Behavioral data (Argo telemetry) + self-report (survey) + qualitative (interviews) is rare in HCI studies of AI adoption. Each data source checks the others.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224028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2F5E"/>
                </a:solidFill>
              </a:rPr>
              <a:t>2.  The copilot / workflow agent distinction is actionable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560320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C3E50"/>
                </a:solidFill>
              </a:rPr>
              <a:t>It maps directly onto a real organizational decision: one shared chatbot vs. custom domain automation. The paper's answer: both, but designed differently.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320040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2F5E"/>
                </a:solidFill>
              </a:rPr>
              <a:t>3.  The Science–Operations similarity finding is counterintuitive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3520440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C3E50"/>
                </a:solidFill>
              </a:rPr>
              <a:t>Most assume scientists and admin staff would want completely different tools. Copilot needs overlap — a shared org-wide tool is defensible.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416052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2F5E"/>
                </a:solidFill>
              </a:rPr>
              <a:t>4.  P1's story is the most compelling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4480560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C3E50"/>
                </a:solidFill>
              </a:rPr>
              <a:t>One Operations employee (no SE background) built a working safety instrument app in days. A concrete, verifiable productivity claim — not a stated preference.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7F8C8D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A2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What I Don't Buy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CF0F1"/>
                </a:solidFill>
              </a:rPr>
              <a:t>Presenter's critique — evidence-grounded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28016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7F8C8D"/>
                </a:solidFill>
              </a:rPr>
              <a:t>Figure 3 — Wagman et al. (2025)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046720" y="1645920"/>
          <a:ext cx="39319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965960"/>
              </a:tblGrid>
              <a:tr h="304800"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</a:rPr>
                        <a:t>Response</a:t>
                      </a:r>
                    </a:p>
                  </a:txBody>
                  <a:tcPr>
                    <a:solidFill>
                      <a:srgbClr val="1A2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</a:rPr>
                        <a:t>%</a:t>
                      </a:r>
                    </a:p>
                  </a:txBody>
                  <a:tcPr>
                    <a:solidFill>
                      <a:srgbClr val="1A2F5E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C3E50"/>
                          </a:solidFill>
                        </a:rPr>
                        <a:t>Strongly agree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C3E50"/>
                          </a:solidFill>
                        </a:rPr>
                        <a:t>7.6%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C3E50"/>
                          </a:solidFill>
                        </a:rPr>
                        <a:t>Agree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C3E50"/>
                          </a:solidFill>
                        </a:rPr>
                        <a:t>21.2%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C3E50"/>
                          </a:solidFill>
                        </a:rPr>
                        <a:t>Neither / nor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C3E50"/>
                          </a:solidFill>
                        </a:rPr>
                        <a:t>21.2%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C3E50"/>
                          </a:solidFill>
                        </a:rPr>
                        <a:t>Disagree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C3E50"/>
                          </a:solidFill>
                        </a:rPr>
                        <a:t>34.8%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C3E50"/>
                          </a:solidFill>
                        </a:rPr>
                        <a:t>Strongly disagree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C3E50"/>
                          </a:solidFill>
                        </a:rPr>
                        <a:t>15.2%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046720" y="3611880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4C3C"/>
                </a:solidFill>
              </a:rPr>
              <a:t>Only 28.8% say LLMs are essential — yet 94% are familiar and 82% used ChatGPT.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42062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7F8C8D"/>
                </a:solidFill>
              </a:rPr>
              <a:t>"LLMs have become an essential part of my workflow"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280160"/>
            <a:ext cx="7498079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>
                <a:solidFill>
                  <a:srgbClr val="2C3E50"/>
                </a:solidFill>
              </a:rPr>
              <a:t>1.  Early-adopter bias — self-selected participants; non-adopters' views absent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2C3E50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2C3E50"/>
                </a:solidFill>
              </a:rPr>
              <a:t>2.  Single org — Argonne's classified-data concerns are atypically high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2C3E50"/>
                </a:solidFill>
              </a:rPr>
              <a:t>     May not transfer to universities or private labs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2C3E50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2C3E50"/>
                </a:solidFill>
              </a:rPr>
              <a:t>3.  Science / Operations binary is too coarse — a software engineer and a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2C3E50"/>
                </a:solidFill>
              </a:rPr>
              <a:t>     climate scientist have very different needs; within-group variation unexplored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2C3E50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2C3E50"/>
                </a:solidFill>
              </a:rPr>
              <a:t>4.  Argo undercounts total GenAI use — telemetry misses ChatGPT/Claude/Gemini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7F8C8D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A2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What Would I Do Next?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CF0F1"/>
                </a:solidFill>
              </a:rPr>
              <a:t>Presenter's perspective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12801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2F5E"/>
                </a:solidFill>
              </a:rPr>
              <a:t>1.  Longitudinal follow-up at the same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600200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C3E50"/>
                </a:solidFill>
              </a:rPr>
              <a:t>Argo was upgraded to GPT-4 after data collection. Would reliability concerns drop? Would the 28.8% 'essential workflow' figure grow?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24028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2F5E"/>
                </a:solidFill>
              </a:rPr>
              <a:t>2.  Multi-organization comparison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2560320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C3E50"/>
                </a:solidFill>
              </a:rPr>
              <a:t>University lab vs. national lab vs. private biotech — what's generalizable vs. context-specific across different data-sensitivity regimes?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20040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2F5E"/>
                </a:solidFill>
              </a:rPr>
              <a:t>3.  Study the non-adopters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3520440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C3E50"/>
                </a:solidFill>
              </a:rPr>
              <a:t>The 70%+ of employees who did not use Argo are invisible. Are they unaware? Skeptical? Blocked? These users matter most for policy.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2F5E"/>
                </a:solidFill>
              </a:rPr>
              <a:t>4.  Audit actual output quality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4480560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C3E50"/>
                </a:solidFill>
              </a:rPr>
              <a:t>Participants reported productivity gains. Do AI-assisted emails, reports, and code hold up under expert review? Self-report and quality can diverge.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7F8C8D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Let's Talk About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1143000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A2F5E"/>
                </a:solidFill>
              </a:rPr>
              <a:t>If your department deployed its own private GenAI tool tomorrow — same interface as ChatGPT, but your data never leaves the organization —
what's the first task you'd hand off to it,
and what's one thing you'd never let it touch?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ECF0F1"/>
                </a:solidFill>
              </a:rPr>
              <a:t>No right answer — just be honest about where your own line is and why.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5196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Follow-up if the conversation runs: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6177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ECF0F1"/>
                </a:solidFill>
              </a:rPr>
              <a:t>The scientists in this study were writing paper introductions with ChatGPT but hesitant to let it touch their actual data.
Does that match how you think about it — or do you draw the line somewhere different?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7F8C8D"/>
                </a:solidFill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